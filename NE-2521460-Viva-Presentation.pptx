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648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731520"/>
            <a:ext cx="2286000" cy="22860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046720" y="3291840"/>
            <a:ext cx="1371600" cy="1371600"/>
          </a:xfrm>
          <a:prstGeom prst="ellipse">
            <a:avLst/>
          </a:prstGeom>
          <a:solidFill>
            <a:srgbClr val="E8670A">
              <a:alpha val="2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VIVA PRESENTATION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Business Management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Sales Forecasting System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Food Production SMEs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
</a:t>
            </a: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S Koralagamage  |  2521460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33472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
</a:t>
            </a: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Ms. Nideshika Ellepola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809744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
</a:t>
            </a: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 (Hons) Software Engineering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86016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
</a:t>
            </a: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Bedfordshire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011680" cy="1463040"/>
          </a:xfrm>
          <a:prstGeom prst="rect">
            <a:avLst/>
          </a:prstGeom>
          <a:solidFill>
            <a:srgbClr val="EEF2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280160"/>
            <a:ext cx="54864" cy="14630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75488" y="17830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Background &amp; Problem Statement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14600" y="1280160"/>
            <a:ext cx="2011680" cy="1463040"/>
          </a:xfrm>
          <a:prstGeom prst="rect">
            <a:avLst/>
          </a:prstGeom>
          <a:solidFill>
            <a:srgbClr val="E0F2FE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14600" y="1280160"/>
            <a:ext cx="54864" cy="14630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10" name="Text 8"/>
          <p:cNvSpPr/>
          <p:nvPr/>
        </p:nvSpPr>
        <p:spPr>
          <a:xfrm>
            <a:off x="2624328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624328" y="17830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Aims &amp; Objectives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280160"/>
            <a:ext cx="2011680" cy="1463040"/>
          </a:xfrm>
          <a:prstGeom prst="rect">
            <a:avLst/>
          </a:prstGeom>
          <a:solidFill>
            <a:srgbClr val="EEF2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280160"/>
            <a:ext cx="54864" cy="14630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14" name="Text 12"/>
          <p:cNvSpPr/>
          <p:nvPr/>
        </p:nvSpPr>
        <p:spPr>
          <a:xfrm>
            <a:off x="4773168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73168" y="17830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&amp; Research Gap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12280" y="1280160"/>
            <a:ext cx="2011680" cy="1463040"/>
          </a:xfrm>
          <a:prstGeom prst="rect">
            <a:avLst/>
          </a:prstGeom>
          <a:solidFill>
            <a:srgbClr val="E0F2FE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12280" y="1280160"/>
            <a:ext cx="54864" cy="14630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18" name="Text 16"/>
          <p:cNvSpPr/>
          <p:nvPr/>
        </p:nvSpPr>
        <p:spPr>
          <a:xfrm>
            <a:off x="6922008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922008" y="17830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Design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2011680" cy="1463040"/>
          </a:xfrm>
          <a:prstGeom prst="rect">
            <a:avLst/>
          </a:prstGeom>
          <a:solidFill>
            <a:srgbClr val="EEF2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2971800"/>
            <a:ext cx="54864" cy="14630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75488" y="34747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Implementation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514600" y="2971800"/>
            <a:ext cx="2011680" cy="1463040"/>
          </a:xfrm>
          <a:prstGeom prst="rect">
            <a:avLst/>
          </a:prstGeom>
          <a:solidFill>
            <a:srgbClr val="E0F2FE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514600" y="2971800"/>
            <a:ext cx="54864" cy="14630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26" name="Text 24"/>
          <p:cNvSpPr/>
          <p:nvPr/>
        </p:nvSpPr>
        <p:spPr>
          <a:xfrm>
            <a:off x="2624328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624328" y="34747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Evaluation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2011680" cy="1463040"/>
          </a:xfrm>
          <a:prstGeom prst="rect">
            <a:avLst/>
          </a:prstGeom>
          <a:solidFill>
            <a:srgbClr val="EEF2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2971800"/>
            <a:ext cx="54864" cy="14630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30" name="Text 28"/>
          <p:cNvSpPr/>
          <p:nvPr/>
        </p:nvSpPr>
        <p:spPr>
          <a:xfrm>
            <a:off x="4773168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773168" y="34747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Background &amp; Problem Statement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34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37490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Heshan Products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a Sri Lankan food SME producing:
• Watalappan (traditional dessert)
• Packaged Ice Packets
• Drink cups
Previously relied entirely on </a:t>
            </a:r>
            <a:r>
              <a:rPr lang="en-US" sz="13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handwritten ledger books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no digital records.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347472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234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Problems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7760" y="1737360"/>
            <a:ext cx="256032" cy="256032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10" name="Text 8"/>
          <p:cNvSpPr/>
          <p:nvPr/>
        </p:nvSpPr>
        <p:spPr>
          <a:xfrm>
            <a:off x="5285232" y="17099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into sales trends or seasonal patterns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37760" y="2249424"/>
            <a:ext cx="256032" cy="256032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12" name="Text 10"/>
          <p:cNvSpPr/>
          <p:nvPr/>
        </p:nvSpPr>
        <p:spPr>
          <a:xfrm>
            <a:off x="5285232" y="22219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Overproduction → spoilage &amp; financial losses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7760" y="2761488"/>
            <a:ext cx="256032" cy="256032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14" name="Text 12"/>
          <p:cNvSpPr/>
          <p:nvPr/>
        </p:nvSpPr>
        <p:spPr>
          <a:xfrm>
            <a:off x="5285232" y="27340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Underproduction → lost customers &amp; revenue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37760" y="3273552"/>
            <a:ext cx="256032" cy="256032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16" name="Text 14"/>
          <p:cNvSpPr/>
          <p:nvPr/>
        </p:nvSpPr>
        <p:spPr>
          <a:xfrm>
            <a:off x="5285232" y="3246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data-driven production planning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37760" y="3785616"/>
            <a:ext cx="256032" cy="256032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18" name="Text 16"/>
          <p:cNvSpPr/>
          <p:nvPr/>
        </p:nvSpPr>
        <p:spPr>
          <a:xfrm>
            <a:off x="5285232" y="375818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business performance view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Aims &amp; Objectives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8595360" cy="777240"/>
          </a:xfrm>
          <a:prstGeom prst="rect">
            <a:avLst/>
          </a:prstGeom>
          <a:solidFill>
            <a:srgbClr val="FFF3E0"/>
          </a:solidFill>
          <a:ln w="12700">
            <a:solidFill>
              <a:srgbClr val="E867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0972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AIM: 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web-based platform for Heshan Products combining ML-powered sales forecasting, order management, and interactive analytics to enable data-driven production decisions.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2011680"/>
            <a:ext cx="4206240" cy="822960"/>
          </a:xfrm>
          <a:prstGeom prst="rect">
            <a:avLst/>
          </a:prstGeom>
          <a:solidFill>
            <a:srgbClr val="EEF2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2011680"/>
            <a:ext cx="4572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292608" y="2194560"/>
            <a:ext cx="420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12140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compare existing sales forecasting algorithms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54880" y="2011680"/>
            <a:ext cx="4206240" cy="822960"/>
          </a:xfrm>
          <a:prstGeom prst="rect">
            <a:avLst/>
          </a:prstGeom>
          <a:solidFill>
            <a:srgbClr val="E0F2FE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2011680"/>
            <a:ext cx="4572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773168" y="2194560"/>
            <a:ext cx="420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85232" y="212140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Prophet-based sales forecasting model on real historical data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4206240" cy="822960"/>
          </a:xfrm>
          <a:prstGeom prst="rect">
            <a:avLst/>
          </a:prstGeom>
          <a:solidFill>
            <a:srgbClr val="EEF2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971800"/>
            <a:ext cx="4572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" y="3154680"/>
            <a:ext cx="420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4672" y="308152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order management platform for wholesale customers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754880" y="2971800"/>
            <a:ext cx="4206240" cy="822960"/>
          </a:xfrm>
          <a:prstGeom prst="rect">
            <a:avLst/>
          </a:prstGeom>
          <a:solidFill>
            <a:srgbClr val="E0F2FE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2971800"/>
            <a:ext cx="4572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4773168" y="3154680"/>
            <a:ext cx="420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85232" y="308152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an interactive analytics dashboard with Chart.js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74320" y="3931920"/>
            <a:ext cx="4206240" cy="822960"/>
          </a:xfrm>
          <a:prstGeom prst="rect">
            <a:avLst/>
          </a:prstGeom>
          <a:solidFill>
            <a:srgbClr val="EEF2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931920"/>
            <a:ext cx="4572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292608" y="4114800"/>
            <a:ext cx="420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04672" y="404164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secure role-based JWT authentication for admins &amp; customers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54880" y="3931920"/>
            <a:ext cx="4206240" cy="822960"/>
          </a:xfrm>
          <a:prstGeom prst="rect">
            <a:avLst/>
          </a:prstGeom>
          <a:solidFill>
            <a:srgbClr val="E0F2FE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3931920"/>
            <a:ext cx="4572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4773168" y="4114800"/>
            <a:ext cx="420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85232" y="404164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comprehensive testing: unit, integration, system &amp; UAT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&amp; Research Gap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28116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28116"/>
            <a:ext cx="4160520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6469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Rodrigues et al. (2021)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293876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consistently beats gut-feel planning for food sales; models adapt to shifting demand patterns.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928116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928116"/>
            <a:ext cx="4160520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4800600" y="96469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Merdas &amp; Mousa (2023)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0600" y="1293876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&amp; Random Forest achieve ~59% accuracy on low-correlation food datasets; led to exploring ensemble methods.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253996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253996"/>
            <a:ext cx="4160520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2905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Nassibi et al. (2023)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619756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beats SVM (MAPE 8.71% vs 37.8%), but LSTM advantage diminishes with smaller datasets.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253996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253996"/>
            <a:ext cx="4160520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4800600" y="22905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Dellino et al. (2015)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619756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Holiday-aware models outperform baseline models for perishable goods forecasting — directly informing Prophet configuration.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579876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579876"/>
            <a:ext cx="4160520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361645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Yadav (2023)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3945636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generalises better than complex models for SMEs with limited data; separates trend, seasonality and holidays.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579876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579876"/>
            <a:ext cx="4160520" cy="320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361645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Ogbokor &amp; Ngeendepi (2012)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00600" y="3945636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 of SME operators have no formal business plan; 87% lack basic financial management structure.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4626356"/>
            <a:ext cx="8595360" cy="41148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465378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GAP: No affordable, integrated ML-forecasting + order management platform exists for food SMEs in developing economies → This project fills that gap.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Technology Stack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834640" cy="3931920"/>
          </a:xfrm>
          <a:prstGeom prst="rect">
            <a:avLst/>
          </a:prstGeom>
          <a:solidFill>
            <a:srgbClr val="F4F7FE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2834640" cy="43891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332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TIER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" y="1609344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5727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+ TypeScript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" y="2176272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1396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v4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43200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" y="270662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 visualisations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" y="3310128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27355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client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46120" y="1005840"/>
            <a:ext cx="2834640" cy="3931920"/>
          </a:xfrm>
          <a:prstGeom prst="rect">
            <a:avLst/>
          </a:prstGeom>
          <a:solidFill>
            <a:srgbClr val="F4F7FE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46120" y="1005840"/>
            <a:ext cx="2834640" cy="43891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3337560" y="10332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TIER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10712" y="160934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3593592" y="15727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(async)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10712" y="217627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3593592" y="21396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ORM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10712" y="274320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3593592" y="270662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 password hashing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410712" y="331012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3593592" y="327355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middleware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10712" y="387705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3593592" y="38404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tasks (SMTP)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0" y="1005840"/>
            <a:ext cx="2834640" cy="3931920"/>
          </a:xfrm>
          <a:prstGeom prst="rect">
            <a:avLst/>
          </a:prstGeom>
          <a:solidFill>
            <a:srgbClr val="F4F7FE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r>
              <a:rPr lang="en-US" dirty="0"/>
              <a:t>]</a:t>
            </a:r>
          </a:p>
        </p:txBody>
      </p:sp>
      <p:sp>
        <p:nvSpPr>
          <p:cNvPr id="31" name="Shape 29"/>
          <p:cNvSpPr/>
          <p:nvPr/>
        </p:nvSpPr>
        <p:spPr>
          <a:xfrm>
            <a:off x="6217920" y="1005840"/>
            <a:ext cx="2834640" cy="438912"/>
          </a:xfrm>
          <a:prstGeom prst="rect">
            <a:avLst/>
          </a:prstGeom>
          <a:solidFill>
            <a:srgbClr val="E8670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09360" y="10332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Tier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82512" y="1609344"/>
            <a:ext cx="128016" cy="128016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34" name="Text 32"/>
          <p:cNvSpPr/>
          <p:nvPr/>
        </p:nvSpPr>
        <p:spPr>
          <a:xfrm>
            <a:off x="6565392" y="15727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Prophet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82512" y="2176272"/>
            <a:ext cx="128016" cy="128016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36" name="Text 34"/>
          <p:cNvSpPr/>
          <p:nvPr/>
        </p:nvSpPr>
        <p:spPr>
          <a:xfrm>
            <a:off x="6565392" y="21396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Lanka holidays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382512" y="2594356"/>
            <a:ext cx="128016" cy="128016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42" name="Text 40"/>
          <p:cNvSpPr/>
          <p:nvPr/>
        </p:nvSpPr>
        <p:spPr>
          <a:xfrm>
            <a:off x="6565392" y="25577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model serialisation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136392" y="2651760"/>
            <a:ext cx="109728" cy="1828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800" y="24140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108960" y="2514600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5979160" y="240487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API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080760" y="2514600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274320" y="4681728"/>
            <a:ext cx="8595360" cy="320040"/>
          </a:xfrm>
          <a:prstGeom prst="rect">
            <a:avLst/>
          </a:prstGeom>
          <a:solidFill>
            <a:srgbClr val="1E2761">
              <a:alpha val="90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365760" y="470916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TIER:  MySQL (production)  |  SQLite (development)  |  Prophet model JSON  |  historical_sales.csv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 – Facebook Prophet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0789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Facebook Prophet?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08760"/>
            <a:ext cx="164592" cy="164592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481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seasonal time-series data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892808"/>
            <a:ext cx="164592" cy="164592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65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well with limited datasets (SME-friendly)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2276856"/>
            <a:ext cx="164592" cy="164592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2494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Holiday-aware regressors built-in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2660904"/>
            <a:ext cx="164592" cy="164592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26334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decomposition: trend + seasonality + holidays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3044952"/>
            <a:ext cx="164592" cy="164592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017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overfitting risk than LSTM on small data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005840"/>
            <a:ext cx="4114800" cy="2286000"/>
          </a:xfrm>
          <a:prstGeom prst="rect">
            <a:avLst/>
          </a:prstGeom>
          <a:solidFill>
            <a:srgbClr val="1E2761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10789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Configuration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15087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data: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historical sales records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92040" y="189280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Seasonality: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+ yearly (daily OFF to avoid overfit)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2276856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Holidays: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Lanka public holidays as custom regressors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2660904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Changepoint prior: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 (conservative trend changes)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9204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Serialised to JSON for fast inference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3429000"/>
            <a:ext cx="859536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1480" y="35021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Retraining Pipeline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20040" y="3886200"/>
            <a:ext cx="1828800" cy="8229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" y="3931920"/>
            <a:ext cx="1773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CSV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76272" y="40233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441448" y="3886200"/>
            <a:ext cx="182880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2468880" y="3931920"/>
            <a:ext cx="1773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&amp; deduplicate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data priority)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297680" y="40233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562856" y="3886200"/>
            <a:ext cx="1828800" cy="82296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32" name="Text 30"/>
          <p:cNvSpPr/>
          <p:nvPr/>
        </p:nvSpPr>
        <p:spPr>
          <a:xfrm>
            <a:off x="4590288" y="3931920"/>
            <a:ext cx="1773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retrain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(background task)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19088" y="40233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684264" y="3886200"/>
            <a:ext cx="1828800" cy="8229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5" name="Text 33"/>
          <p:cNvSpPr/>
          <p:nvPr/>
        </p:nvSpPr>
        <p:spPr>
          <a:xfrm>
            <a:off x="6711696" y="3931920"/>
            <a:ext cx="1773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model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serialised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System Features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2743200" cy="1737360"/>
          </a:xfrm>
          <a:prstGeom prst="rect">
            <a:avLst/>
          </a:prstGeom>
          <a:solidFill>
            <a:srgbClr val="F4F7FE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2743200" cy="384048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15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Forecasting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model with daily &amp; monthly projections, confidence interval bands, adjustable 7–60 day horizon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82112" y="1051560"/>
            <a:ext cx="2743200" cy="1737360"/>
          </a:xfrm>
          <a:prstGeom prst="rect">
            <a:avLst/>
          </a:prstGeom>
          <a:solidFill>
            <a:srgbClr val="F4F7FE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82112" y="1051560"/>
            <a:ext cx="2743200" cy="38404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3273552" y="1115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73552" y="15087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 (revenue, profit, orders, users), live Chart.js charts, real-time sales vs forecast view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9904" y="1051560"/>
            <a:ext cx="2743200" cy="1737360"/>
          </a:xfrm>
          <a:prstGeom prst="rect">
            <a:avLst/>
          </a:prstGeom>
          <a:solidFill>
            <a:srgbClr val="F4F7FE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89904" y="1051560"/>
            <a:ext cx="2743200" cy="38404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181344" y="1115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Management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81344" y="15087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 customer ordering portal, cart management, delivery date selection, order history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971800"/>
            <a:ext cx="2743200" cy="1737360"/>
          </a:xfrm>
          <a:prstGeom prst="rect">
            <a:avLst/>
          </a:prstGeom>
          <a:solidFill>
            <a:srgbClr val="F4F7FE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971800"/>
            <a:ext cx="2743200" cy="38404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30358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Auth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34290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customer &amp; admin login flows, JWT tokens, Argon2 password hashing, CORS protection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182112" y="2971800"/>
            <a:ext cx="2743200" cy="1737360"/>
          </a:xfrm>
          <a:prstGeom prst="rect">
            <a:avLst/>
          </a:prstGeom>
          <a:solidFill>
            <a:srgbClr val="F4F7FE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82112" y="2971800"/>
            <a:ext cx="2743200" cy="38404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3273552" y="30358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73552" y="34290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CRUD for products, cost price tracking for profit analytics, image uploads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089904" y="2971800"/>
            <a:ext cx="2743200" cy="1737360"/>
          </a:xfrm>
          <a:prstGeom prst="rect">
            <a:avLst/>
          </a:prstGeom>
          <a:solidFill>
            <a:srgbClr val="F4F7FE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89904" y="2971800"/>
            <a:ext cx="2743200" cy="384048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26" name="Text 24"/>
          <p:cNvSpPr/>
          <p:nvPr/>
        </p:nvSpPr>
        <p:spPr>
          <a:xfrm>
            <a:off x="6181344" y="30358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 &amp; Email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81344" y="34290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report CSV download, automated order confirmation emails via Gmail SMTP STARTTLS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Evaluation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53035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64008" cy="777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438912" y="1106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8912" y="138074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functions, password hashing, JWT token generation — isolated component verification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947672"/>
            <a:ext cx="53035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947672"/>
            <a:ext cx="64008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20025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" y="227685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placement chain: DB write → cart clear → email dispatch; Prophet endpoint response validation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843784"/>
            <a:ext cx="53035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843784"/>
            <a:ext cx="64008" cy="7772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14" name="Text 12"/>
          <p:cNvSpPr/>
          <p:nvPr/>
        </p:nvSpPr>
        <p:spPr>
          <a:xfrm>
            <a:off x="438912" y="2898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Testing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8912" y="31729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end-to-end customer &amp; admin workflows; 15 test cases across all major system functions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739896"/>
            <a:ext cx="53035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739896"/>
            <a:ext cx="64008" cy="7772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7947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Testing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" y="40690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endpoint protection, cross-user data access prevention, SQL injection via SQLAlchemy parameterisation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97880" y="1051560"/>
            <a:ext cx="2971800" cy="384048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035040" y="114300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Results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035040" y="153619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4.65 / 5.0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6035040" y="20848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Average Score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2423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&amp; Login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074152" y="24231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03504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Cart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74152" y="278892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35040" y="3154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Placement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74152" y="31546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035040" y="3520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74152" y="35204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035040" y="3886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Forecast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74152" y="38862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3504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Management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74152" y="4251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Achievement Summary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8595360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338328" y="10972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0972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10328" y="10972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601968" y="10972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600200"/>
            <a:ext cx="85953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" y="16916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16916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&amp; compare sales forecasting algorithms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16916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Achieved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60196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(Ch.2)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74320" y="2194560"/>
            <a:ext cx="8595360" cy="548640"/>
          </a:xfrm>
          <a:prstGeom prst="rect">
            <a:avLst/>
          </a:prstGeom>
          <a:solidFill>
            <a:srgbClr val="EEF2FF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" y="22860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22860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Prophet-based sales forecasting model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910328" y="22860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Achieved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01968" y="22860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model, TC-10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74320" y="2788920"/>
            <a:ext cx="85953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" y="28803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41248" y="28803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order management &amp; forecasting platform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910328" y="2880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Achieved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601968" y="288036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demonstration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74320" y="3383280"/>
            <a:ext cx="8595360" cy="548640"/>
          </a:xfrm>
          <a:prstGeom prst="rect">
            <a:avLst/>
          </a:prstGeom>
          <a:solidFill>
            <a:srgbClr val="EEF2FF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" y="34747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41248" y="34747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interactive analytics dashboard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910328" y="34747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Achieved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601968" y="34747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page, TC-09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274320" y="3977640"/>
            <a:ext cx="85953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" y="4069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O5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41248" y="40690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secure role-based authentication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910328" y="4069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Achieved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601968" y="40690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TC-11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274320" y="4572000"/>
            <a:ext cx="8595360" cy="548640"/>
          </a:xfrm>
          <a:prstGeom prst="rect">
            <a:avLst/>
          </a:prstGeom>
          <a:solidFill>
            <a:srgbClr val="EEF2FF"/>
          </a:solidFill>
          <a:ln/>
        </p:spPr>
      </p:sp>
      <p:sp>
        <p:nvSpPr>
          <p:cNvPr id="35" name="Text 33"/>
          <p:cNvSpPr/>
          <p:nvPr/>
        </p:nvSpPr>
        <p:spPr>
          <a:xfrm>
            <a:off x="338328" y="4663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O6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41248" y="4663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testing &amp; evaluation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910328" y="46634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Achieved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601968" y="4663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TC-01 to TC-15, UAT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274320" y="4773168"/>
            <a:ext cx="8595360" cy="27432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40" name="Text 38"/>
          <p:cNvSpPr/>
          <p:nvPr/>
        </p:nvSpPr>
        <p:spPr>
          <a:xfrm>
            <a:off x="365760" y="4791456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project objectives were fully achieved — validated through 15 test cases and a UAT session averaging 4.65 / 5.0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Deviations from Plan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24128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24128"/>
            <a:ext cx="64008" cy="68580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6" name="Text 4"/>
          <p:cNvSpPr/>
          <p:nvPr/>
        </p:nvSpPr>
        <p:spPr>
          <a:xfrm>
            <a:off x="438912" y="1078992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Integration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38912" y="13167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 compilation dependency caused version conflicts between Prophet, cmdstanpy, and Python env. Required careful package resolution.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4320" y="1810512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810512"/>
            <a:ext cx="64008" cy="68580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1865376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Serialisation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38912" y="21031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Saving/loading Prophet to JSON with consistent data type handling required extra preprocessing to avoid inference-time errors.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596896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596896"/>
            <a:ext cx="64008" cy="68580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14" name="Text 12"/>
          <p:cNvSpPr/>
          <p:nvPr/>
        </p:nvSpPr>
        <p:spPr>
          <a:xfrm>
            <a:off x="438912" y="2651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Pipeline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38912" y="28895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Merging historical CSV with live DB data required exact date alignment to avoid duplicates or data loss across sources.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74320" y="338328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383280"/>
            <a:ext cx="64008" cy="68580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438144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38912" y="36758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async API calls completing at different times caused rendering race conditions — resolved with proper loading state management.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4169664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4169664"/>
            <a:ext cx="64008" cy="68580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22" name="Text 20"/>
          <p:cNvSpPr/>
          <p:nvPr/>
        </p:nvSpPr>
        <p:spPr>
          <a:xfrm>
            <a:off x="438912" y="4224528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SMTP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38912" y="446227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Google's tightened security policies broke initial setup; resolved with App Password + STARTTLS on port 587.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23560" y="1024128"/>
            <a:ext cx="3246120" cy="3913632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760720" y="1115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760720" y="1508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Model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760720" y="1783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Was: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/ Random Forest
</a:t>
            </a: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Prophet — better fit for seasonal SME data with limited records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60720" y="29718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Containerisation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760720" y="3246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Was: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planned
</a:t>
            </a:r>
            <a:r>
              <a:rPr lang="en-US" sz="11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due to time — system deploys via Python venv + Node.js without issues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931920"/>
          </a:xfrm>
          <a:prstGeom prst="rect">
            <a:avLst/>
          </a:prstGeom>
          <a:solidFill>
            <a:srgbClr val="F4F7FE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0789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08760"/>
            <a:ext cx="384048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5544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Forecasting accuracy limited by data volume (improves over time)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2130552"/>
            <a:ext cx="384048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" y="217627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No integrated payment gateway (orders only)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2752344"/>
            <a:ext cx="384048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" y="279806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Single admin account — no staff permission levels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3374136"/>
            <a:ext cx="384048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3419856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No real-time inventory / stock level tracking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3995928"/>
            <a:ext cx="384048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5488" y="404164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Model retraining is manual (no scheduled automation yet)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005840"/>
            <a:ext cx="4114800" cy="3931920"/>
          </a:xfrm>
          <a:prstGeom prst="rect">
            <a:avLst/>
          </a:prstGeom>
          <a:solidFill>
            <a:srgbClr val="1E2761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10789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892040" y="1536192"/>
            <a:ext cx="182880" cy="182880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19" name="Text 17"/>
          <p:cNvSpPr/>
          <p:nvPr/>
        </p:nvSpPr>
        <p:spPr>
          <a:xfrm>
            <a:off x="5166360" y="1508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Integration – 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local LK payment gateway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92040" y="2048256"/>
            <a:ext cx="182880" cy="182880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21" name="Text 19"/>
          <p:cNvSpPr/>
          <p:nvPr/>
        </p:nvSpPr>
        <p:spPr>
          <a:xfrm>
            <a:off x="5166360" y="202082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Tracking –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stock levels with low-stock alerts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92040" y="2560320"/>
            <a:ext cx="182880" cy="182880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23" name="Text 21"/>
          <p:cNvSpPr/>
          <p:nvPr/>
        </p:nvSpPr>
        <p:spPr>
          <a:xfrm>
            <a:off x="5166360" y="253288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Upgrade –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Prophet with LSTM once dataset grows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92040" y="3072384"/>
            <a:ext cx="182880" cy="182880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25" name="Text 23"/>
          <p:cNvSpPr/>
          <p:nvPr/>
        </p:nvSpPr>
        <p:spPr>
          <a:xfrm>
            <a:off x="5166360" y="30449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–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app for on-the-go wholesale ordering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92040" y="3584448"/>
            <a:ext cx="182880" cy="182880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27" name="Text 25"/>
          <p:cNvSpPr/>
          <p:nvPr/>
        </p:nvSpPr>
        <p:spPr>
          <a:xfrm>
            <a:off x="5166360" y="355701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Retraining –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background scheduler for model updates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92040" y="4096512"/>
            <a:ext cx="182880" cy="182880"/>
          </a:xfrm>
          <a:prstGeom prst="ellipse">
            <a:avLst/>
          </a:prstGeom>
          <a:solidFill>
            <a:srgbClr val="E8670A"/>
          </a:solidFill>
          <a:ln/>
        </p:spPr>
      </p:sp>
      <p:sp>
        <p:nvSpPr>
          <p:cNvPr id="29" name="Text 27"/>
          <p:cNvSpPr/>
          <p:nvPr/>
        </p:nvSpPr>
        <p:spPr>
          <a:xfrm>
            <a:off x="5166360" y="4069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Multi-business –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offering for other food SMEs in the region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028090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200400"/>
            <a:ext cx="2743200" cy="2743200"/>
          </a:xfrm>
          <a:prstGeom prst="ellipse">
            <a:avLst/>
          </a:prstGeom>
          <a:solidFill>
            <a:srgbClr val="E8670A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20040" cy="3200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24128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0058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replaced a fully paper-based operation with an intelligent digital system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320040" cy="3200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64208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1645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Prophet trained on real records — holiday-aware, continuously improving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320040" cy="3200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304288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228600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 gives first-ever visibility into revenue, profit, and product trends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320040" cy="3200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44368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292608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auth, secure JWT, Argon2 hashing — production-grade security throughout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320040" cy="3200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584448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" y="35661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objectives achieved; 15/15 test cases passed; UAT average 4.65 / 5.0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320040" cy="320040"/>
          </a:xfrm>
          <a:prstGeom prst="rect">
            <a:avLst/>
          </a:prstGeom>
          <a:solidFill>
            <a:srgbClr val="E8670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224528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68680" y="42062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Replicable architecture applicable to other food SMEs in developing economies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solidFill>
            <a:srgbClr val="E8670A">
              <a:alpha val="8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727448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built this thinking about anyone running a small business on memory, hope, and handwritten books."  — H S Koralagamage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028090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1783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6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71600" y="2468880"/>
            <a:ext cx="6400800" cy="18288"/>
          </a:xfrm>
          <a:prstGeom prst="rect">
            <a:avLst/>
          </a:prstGeom>
          <a:solidFill>
            <a:srgbClr val="CADCFC">
              <a:alpha val="4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517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S Koralagamage  |  Student ID: 2521460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 (Hons) Software Engineering  |  University of Bedfordshire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Ms. Nideshika Ellepola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88620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github.com/Shalinda12345/FinalYearProject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</TotalTime>
  <Words>1361</Words>
  <Application>Microsoft Office PowerPoint</Application>
  <PresentationFormat>On-screen Show (16:9)</PresentationFormat>
  <Paragraphs>237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Business Management &amp; Sales Forecasting System</dc:title>
  <dc:subject>PptxGenJS Presentation</dc:subject>
  <dc:creator>H S Koralagamage</dc:creator>
  <cp:lastModifiedBy>CNN COMPUTERS</cp:lastModifiedBy>
  <cp:revision>8</cp:revision>
  <dcterms:created xsi:type="dcterms:W3CDTF">2026-05-16T14:09:57Z</dcterms:created>
  <dcterms:modified xsi:type="dcterms:W3CDTF">2026-05-16T18:39:32Z</dcterms:modified>
</cp:coreProperties>
</file>