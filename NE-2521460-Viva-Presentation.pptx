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4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3291840"/>
            <a:ext cx="1371600" cy="1371600"/>
          </a:xfrm>
          <a:prstGeom prst="ellipse">
            <a:avLst/>
          </a:prstGeom>
          <a:solidFill>
            <a:srgbClr val="E8670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Business Management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Sales Forecasting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Food Production SMEs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 Koralagamage  |  2521460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33472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Nideshika Ellepola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9744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Software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86016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Bedfordshire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1463040"/>
          </a:xfrm>
          <a:prstGeom prst="rect">
            <a:avLst/>
          </a:prstGeom>
          <a:solidFill>
            <a:srgbClr val="EEF2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1463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Problem Statement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2011680" cy="1463040"/>
          </a:xfrm>
          <a:prstGeom prst="rect">
            <a:avLst/>
          </a:prstGeom>
          <a:solidFill>
            <a:srgbClr val="E0F2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280160"/>
            <a:ext cx="54864" cy="1463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0" name="Text 8"/>
          <p:cNvSpPr/>
          <p:nvPr/>
        </p:nvSpPr>
        <p:spPr>
          <a:xfrm>
            <a:off x="2624328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24328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Aims &amp; Objectives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2011680" cy="1463040"/>
          </a:xfrm>
          <a:prstGeom prst="rect">
            <a:avLst/>
          </a:prstGeom>
          <a:solidFill>
            <a:srgbClr val="EEF2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1463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73168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2011680" cy="1463040"/>
          </a:xfrm>
          <a:prstGeom prst="rect">
            <a:avLst/>
          </a:prstGeom>
          <a:solidFill>
            <a:srgbClr val="E0F2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280160"/>
            <a:ext cx="54864" cy="1463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8" name="Text 16"/>
          <p:cNvSpPr/>
          <p:nvPr/>
        </p:nvSpPr>
        <p:spPr>
          <a:xfrm>
            <a:off x="6922008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22008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011680" cy="1463040"/>
          </a:xfrm>
          <a:prstGeom prst="rect">
            <a:avLst/>
          </a:prstGeom>
          <a:solidFill>
            <a:srgbClr val="EEF2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54864" cy="1463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" y="3474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Implementation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14600" y="2971800"/>
            <a:ext cx="2011680" cy="1463040"/>
          </a:xfrm>
          <a:prstGeom prst="rect">
            <a:avLst/>
          </a:prstGeom>
          <a:solidFill>
            <a:srgbClr val="E0F2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14600" y="2971800"/>
            <a:ext cx="54864" cy="1463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26" name="Text 24"/>
          <p:cNvSpPr/>
          <p:nvPr/>
        </p:nvSpPr>
        <p:spPr>
          <a:xfrm>
            <a:off x="2624328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24328" y="3474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2011680" cy="1463040"/>
          </a:xfrm>
          <a:prstGeom prst="rect">
            <a:avLst/>
          </a:prstGeom>
          <a:solidFill>
            <a:srgbClr val="EEF2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71800"/>
            <a:ext cx="54864" cy="1463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73168" y="3474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Heshan Products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Sri Lankan food SME producing:
• Watalappan (traditional dessert)
• Packaged Ice Packets
• Drink cups
Previously relied entirely on </a:t>
            </a: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ledger books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no digital records.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1737360"/>
            <a:ext cx="256032" cy="25603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sales trends or seasonal patterns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249424"/>
            <a:ext cx="256032" cy="25603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2" name="Text 10"/>
          <p:cNvSpPr/>
          <p:nvPr/>
        </p:nvSpPr>
        <p:spPr>
          <a:xfrm>
            <a:off x="5285232" y="2221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Overproduction → spoilage &amp; financial losses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761488"/>
            <a:ext cx="256032" cy="25603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4" name="Text 12"/>
          <p:cNvSpPr/>
          <p:nvPr/>
        </p:nvSpPr>
        <p:spPr>
          <a:xfrm>
            <a:off x="5285232" y="2734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Underproduction → lost customers &amp; 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273552"/>
            <a:ext cx="256032" cy="25603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production planning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785616"/>
            <a:ext cx="256032" cy="25603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232" y="37581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business performance view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Aims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web-based platform for Heshan Products combining ML-powered sales forecasting, order management, and interactive analytics to enable data-driven production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4206240" cy="822960"/>
          </a:xfrm>
          <a:prstGeom prst="rect">
            <a:avLst/>
          </a:prstGeom>
          <a:solidFill>
            <a:srgbClr val="EEF2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1168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21945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compare existing sales forecasting algorithms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4206240" cy="822960"/>
          </a:xfrm>
          <a:prstGeom prst="rect">
            <a:avLst/>
          </a:prstGeom>
          <a:solidFill>
            <a:srgbClr val="E0F2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1168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1945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85232" y="21214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Prophet-based sales forecasting model on real historical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06240" cy="822960"/>
          </a:xfrm>
          <a:prstGeom prst="rect">
            <a:avLst/>
          </a:prstGeom>
          <a:solidFill>
            <a:srgbClr val="EEF2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31546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0815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order management platform for wholesale customers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206240" cy="822960"/>
          </a:xfrm>
          <a:prstGeom prst="rect">
            <a:avLst/>
          </a:prstGeom>
          <a:solidFill>
            <a:srgbClr val="E0F2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7180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31546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5232" y="30815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interactive analytics dashboard with Chart.js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4206240" cy="822960"/>
          </a:xfrm>
          <a:prstGeom prst="rect">
            <a:avLst/>
          </a:prstGeom>
          <a:solidFill>
            <a:srgbClr val="EEF2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3192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41148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40416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role-based JWT authentication for admins &amp; customers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4206240" cy="822960"/>
          </a:xfrm>
          <a:prstGeom prst="rect">
            <a:avLst/>
          </a:prstGeom>
          <a:solidFill>
            <a:srgbClr val="E0F2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931920"/>
            <a:ext cx="457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41148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85232" y="40416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comprehensive testing: unit, integration, system &amp; UAT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2811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28116"/>
            <a:ext cx="41605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46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Rodrigues et al. (2021)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387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consistently beats gut-feel planning for food sales; models adapt to shifting demand patterns.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2811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28116"/>
            <a:ext cx="41605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646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Merdas &amp; Mousa (2023)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29387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&amp; Random Forest achieve ~59% accuracy on low-correlation food datasets; led to exploring ensemble methods.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5399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53996"/>
            <a:ext cx="41605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905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Nassibi et al. (2023)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1975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beats SVM (MAPE 8.71% vs 37.8%), but LSTM advantage diminishes with smaller datasets.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5399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53996"/>
            <a:ext cx="41605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2905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Dellino et al. (2015)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61975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Holiday-aware models outperform baseline models for perishable goods forecasting — directly informing Prophet configuration.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7987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79876"/>
            <a:ext cx="41605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164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(2023)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94563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generalises better than complex models for SMEs with limited data; separates trend, seasonality and holidays.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7987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79876"/>
            <a:ext cx="41605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164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Ogbokor &amp; Ngeendepi (2012)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94563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SME operators have no formal business plan; 87% lack basic financial management structure.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26356"/>
            <a:ext cx="8595360" cy="41148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6537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affordable, integrated ML-forecasting + order management platform exists for food SMEs in developing economies → This project fills that gap.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93192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6093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TypeScript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217627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7432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706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visualisations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331012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273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834640" cy="393192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283464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033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0712" y="160934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593592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(async)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10712" y="217627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10712" y="27432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593592" y="2706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password hashing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10712" y="331012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593592" y="3273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10712" y="387705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3593592" y="3840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 (SMTP)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005840"/>
            <a:ext cx="2834640" cy="393192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005840"/>
            <a:ext cx="2834640" cy="438912"/>
          </a:xfrm>
          <a:prstGeom prst="rect">
            <a:avLst/>
          </a:prstGeom>
          <a:solidFill>
            <a:srgbClr val="E8670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09360" y="1033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Tier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82512" y="1609344"/>
            <a:ext cx="128016" cy="128016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34" name="Text 32"/>
          <p:cNvSpPr/>
          <p:nvPr/>
        </p:nvSpPr>
        <p:spPr>
          <a:xfrm>
            <a:off x="6565392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82512" y="2176272"/>
            <a:ext cx="128016" cy="128016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36" name="Text 34"/>
          <p:cNvSpPr/>
          <p:nvPr/>
        </p:nvSpPr>
        <p:spPr>
          <a:xfrm>
            <a:off x="6565392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holidays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82512" y="2743200"/>
            <a:ext cx="128016" cy="128016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38" name="Text 36"/>
          <p:cNvSpPr/>
          <p:nvPr/>
        </p:nvSpPr>
        <p:spPr>
          <a:xfrm>
            <a:off x="6565392" y="2706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live DB merge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82512" y="3310128"/>
            <a:ext cx="128016" cy="128016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3273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retrain endpoint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82512" y="3877056"/>
            <a:ext cx="128016" cy="128016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42" name="Text 40"/>
          <p:cNvSpPr/>
          <p:nvPr/>
        </p:nvSpPr>
        <p:spPr>
          <a:xfrm>
            <a:off x="6565392" y="3840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model serialisation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36392" y="2651760"/>
            <a:ext cx="109728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4" name="Text 42"/>
          <p:cNvSpPr/>
          <p:nvPr/>
        </p:nvSpPr>
        <p:spPr>
          <a:xfrm>
            <a:off x="2971800" y="2414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08960" y="25146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979160" y="2404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80760" y="25146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TIER:  MySQL (production)  |  SQLite (development)  |  Prophet model JSON  |  historical_sales.csv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– Facebook Prophet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Facebook Prophet?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64592" cy="16459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seasonal time-series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92808"/>
            <a:ext cx="164592" cy="16459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865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limited datasets (SME-friendly)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76856"/>
            <a:ext cx="164592" cy="16459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Holiday-aware regressors built-in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660904"/>
            <a:ext cx="164592" cy="16459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decomposition: trend + seasonality + holidays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44952"/>
            <a:ext cx="164592" cy="164592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overfitting risk than LSTM on small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historical sales records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892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+ yearly (daily OFF to avoid overfit)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27685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public holidays as custom regressors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6609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Changepoint prior: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(conservative trend changes)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044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to JSON for fast inference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8595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502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Retraining Pipeline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886200"/>
            <a:ext cx="18288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9319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CSV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76272" y="4023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441448" y="3886200"/>
            <a:ext cx="18288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39319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deduplicate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 data priority)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4023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62856" y="3886200"/>
            <a:ext cx="1828800" cy="82296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32" name="Text 30"/>
          <p:cNvSpPr/>
          <p:nvPr/>
        </p:nvSpPr>
        <p:spPr>
          <a:xfrm>
            <a:off x="4590288" y="39319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retrain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(background task)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19088" y="4023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84264" y="3886200"/>
            <a:ext cx="18288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6711696" y="393192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System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84048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model with daily &amp; monthly projections, confidence interval bands, adjustable 7–60 day horizon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1051560"/>
            <a:ext cx="2743200" cy="173736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105156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3552" y="1508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(revenue, profit, orders, users), live Chart.js charts, real-time sales vs forecast 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051560"/>
            <a:ext cx="2743200" cy="173736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1051560"/>
            <a:ext cx="27432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508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customer ordering portal, cart management, delivery date selection, order history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743200" cy="38404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customer &amp; admin login flows, JWT tokens, Argon2 password hashing, CORS protection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2971800"/>
            <a:ext cx="2743200" cy="173736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97180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73552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for products, cost price tracking for profit analytics, image uploads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9904" y="2971800"/>
            <a:ext cx="2743200" cy="1737360"/>
          </a:xfrm>
          <a:prstGeom prst="rect">
            <a:avLst/>
          </a:prstGeom>
          <a:solidFill>
            <a:srgbClr val="F4F7F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971800"/>
            <a:ext cx="2743200" cy="384048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344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&amp; Email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1344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 CSV download, automated order confirmation emails via Gmail SMTP STARTTLS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106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807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functions, password hashing, JWT token generation — isolated component verification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47672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47672"/>
            <a:ext cx="64008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002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768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chain: DB write → cart clear → email dispatch; Prophet endpoint response 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43784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43784"/>
            <a:ext cx="64008" cy="7772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898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customer &amp; admin workflows; 15 test cases across all major system functions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39896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39896"/>
            <a:ext cx="64008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069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endpoint protection, cross-user data access prevention, SQL injection via SQLAlchemy parameterisation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7880" y="1051560"/>
            <a:ext cx="2971800" cy="38404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1430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Results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153619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4.65 / 5.0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035040" y="20848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74152" y="24231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74152" y="2788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74152" y="3154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74152" y="3520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Forecast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74152" y="3886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74152" y="42519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Achievement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" y="10972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10328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01968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1691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compare sales forecasting algorithms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Achieved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01968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(Ch.2)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5486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22860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2286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Prophet-based sales forecasting model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10328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Achieved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01968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model, TC-10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2880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management &amp; forecasting platform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0328" y="2880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Achieved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01968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demonstration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5486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" y="3474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" y="3474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analytics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0328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Achieved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01968" y="3474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page, TC-09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" y="4069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role-based authentication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10328" y="4069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Achieved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01968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TC-11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74320" y="4572000"/>
            <a:ext cx="8595360" cy="5486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" y="4663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1248" y="4663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 &amp; evaluation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10328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Achieved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601968" y="4663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to TC-15, UAT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project objectives were fully achieved — validated through 15 test cases and a UAT session averaging 4.65 / 5.0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Deviations from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64008" cy="6858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78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Integration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compilation dependency caused version conflicts between Prophet, cmdstanpy, and Python env. Required careful package resolution.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10512"/>
            <a:ext cx="64008" cy="6858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8653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Serialisation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" y="2103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Saving/loading Prophet to JSON with consistent data type handling required extra preprocessing to avoid inference-time errors.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96896"/>
            <a:ext cx="64008" cy="6858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651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" y="28895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historical CSV with live DB data required exact date alignment to avoid duplicates or data loss across sources.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83280"/>
            <a:ext cx="64008" cy="6858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4381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" y="36758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async API calls completing at different times caused rendering race conditions — resolved with proper loading state management.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69664"/>
            <a:ext cx="64008" cy="6858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42245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" y="44622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tightened security policies broke initial setup; resolved with App Password + STARTTLS on port 587.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23560" y="1024128"/>
            <a:ext cx="3246120" cy="3913632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1115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/ Random Forest
</a:t>
            </a: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 — better fit for seasonal SME data with limited records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planned
</a:t>
            </a: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due to time — system deploys via Python venv + Node.js without issues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F4F7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5544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Forecasting accuracy limited by data volume (improves over time)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130552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1762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integrated payment gateway (orders only)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52344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7980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Single admin account — no staff permission levels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374136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34198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real-time inventory / stock level tracking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995928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40416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Model retraining is manual (no scheduled automation yet)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92040" y="1536192"/>
            <a:ext cx="182880" cy="182880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 –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local LK payment gateway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2048256"/>
            <a:ext cx="182880" cy="182880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0208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–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levels with low-stock alerts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560320"/>
            <a:ext cx="182880" cy="182880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532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Upgrade –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Prophet with LSTM once dataset grows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072384"/>
            <a:ext cx="182880" cy="182880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–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on-the-go wholesale ordering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584448"/>
            <a:ext cx="182880" cy="182880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557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Retraining –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background scheduler for model updates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4096512"/>
            <a:ext cx="182880" cy="182880"/>
          </a:xfrm>
          <a:prstGeom prst="ellipse">
            <a:avLst/>
          </a:prstGeom>
          <a:solidFill>
            <a:srgbClr val="E8670A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4069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Multi-business –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offering for other food SMEs in the region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8670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241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replaced a fully paper-based operation with an intelligent digital system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 trained on real records — holiday-aware, continuously improving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042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gives first-ever visibility into revenue, profit, and product trends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4436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auth, secure JWT, Argon2 hashing — production-grade security throughout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844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566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objectives achieved; 15/15 test cases passed; UAT average 4.65 / 5.0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24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architecture applicable to other food SMEs in developing economies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E8670A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274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this thinking about anyone running a small business on memory, hope, and handwritten books."  — H S Koralagamage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6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6400800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 Koralagamage  |  Student ID: 2521460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Software Engineering  |  University of Bedfordshire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Ms. Nideshika Ellepola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github.com/Shalinda12345/FinalYearProject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1368</Words>
  <Application>Microsoft Office PowerPoint</Application>
  <PresentationFormat>On-screen Show (16:9)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Business Management &amp; Sales Forecasting System</dc:title>
  <dc:subject>PptxGenJS Presentation</dc:subject>
  <dc:creator>H S Koralagamage</dc:creator>
  <cp:lastModifiedBy>CNN COMPUTERS</cp:lastModifiedBy>
  <cp:revision>7</cp:revision>
  <dcterms:created xsi:type="dcterms:W3CDTF">2026-05-16T14:09:57Z</dcterms:created>
  <dcterms:modified xsi:type="dcterms:W3CDTF">2026-05-16T17:55:03Z</dcterms:modified>
</cp:coreProperties>
</file>